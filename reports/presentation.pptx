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B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1B3D"/>
                </a:solidFill>
                <a:latin typeface="+mn-lt"/>
              </a:rPr>
              <a:t>Fluency rate by total study hours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Fluency rate</c:v>
                </c:pt>
              </c:strCache>
            </c:strRef>
          </c:tx>
          <c:spPr>
            <a:solidFill>
              <a:srgbClr val="2F6BC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B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0-200</c:v>
                  </c:pt>
                  <c:pt idx="1">
                    <c:v>201-500</c:v>
                  </c:pt>
                  <c:pt idx="2">
                    <c:v>501-1000</c:v>
                  </c:pt>
                  <c:pt idx="3">
                    <c:v>1001-2000</c:v>
                  </c:pt>
                  <c:pt idx="4">
                    <c:v>2000+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1.1</c:v>
                </c:pt>
                <c:pt idx="1">
                  <c:v>18.7</c:v>
                </c:pt>
                <c:pt idx="2">
                  <c:v>53.4</c:v>
                </c:pt>
                <c:pt idx="3">
                  <c:v>80.3</c:v>
                </c:pt>
                <c:pt idx="4">
                  <c:v>95.1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F1B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5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B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1B3D"/>
                </a:solidFill>
                <a:latin typeface="+mn-lt"/>
              </a:rPr>
              <a:t>By language difficulty (FSI)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Fluency rate</c:v>
                </c:pt>
              </c:strCache>
            </c:strRef>
          </c:tx>
          <c:spPr>
            <a:solidFill>
              <a:srgbClr val="14407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B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Easy</c:v>
                  </c:pt>
                  <c:pt idx="1">
                    <c:v>Moderate</c:v>
                  </c:pt>
                  <c:pt idx="2">
                    <c:v>Hard</c:v>
                  </c:pt>
                  <c:pt idx="3">
                    <c:v>Very hard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54.1</c:v>
                </c:pt>
                <c:pt idx="1">
                  <c:v>42.1</c:v>
                </c:pt>
                <c:pt idx="2">
                  <c:v>27</c:v>
                </c:pt>
                <c:pt idx="3">
                  <c:v>9.5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F1B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5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3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B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1B3D"/>
                </a:solidFill>
                <a:latin typeface="+mn-lt"/>
              </a:rPr>
              <a:t>By months of immersion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Fluency rate</c:v>
                </c:pt>
              </c:strCache>
            </c:strRef>
          </c:tx>
          <c:spPr>
            <a:solidFill>
              <a:srgbClr val="4DA6F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B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None</c:v>
                  </c:pt>
                  <c:pt idx="1">
                    <c:v>1-3</c:v>
                  </c:pt>
                  <c:pt idx="2">
                    <c:v>4-6</c:v>
                  </c:pt>
                  <c:pt idx="3">
                    <c:v>7-12</c:v>
                  </c:pt>
                  <c:pt idx="4">
                    <c:v>12+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31.9</c:v>
                </c:pt>
                <c:pt idx="1">
                  <c:v>36.9</c:v>
                </c:pt>
                <c:pt idx="2">
                  <c:v>43.4</c:v>
                </c:pt>
                <c:pt idx="3">
                  <c:v>52.1</c:v>
                </c:pt>
                <c:pt idx="4">
                  <c:v>62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F1B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5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3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B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1B3D"/>
                </a:solidFill>
                <a:latin typeface="+mn-lt"/>
              </a:rPr>
              <a:t>Quit rate by motivation and consistency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Motivation</c:v>
                </c:pt>
              </c:strCache>
            </c:strRef>
          </c:tx>
          <c:spPr>
            <a:solidFill>
              <a:srgbClr val="2F6BC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B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Low</c:v>
                  </c:pt>
                  <c:pt idx="1">
                    <c:v>Medium</c:v>
                  </c:pt>
                  <c:pt idx="2">
                    <c:v>High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35.6</c:v>
                </c:pt>
                <c:pt idx="2">
                  <c:v>26.9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Consistency</c:v>
                </c:pt>
              </c:strCache>
            </c:strRef>
          </c:tx>
          <c:spPr>
            <a:solidFill>
              <a:srgbClr val="93B6E8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B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Low</c:v>
                  </c:pt>
                  <c:pt idx="1">
                    <c:v>Medium</c:v>
                  </c:pt>
                  <c:pt idx="2">
                    <c:v>High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48.2</c:v>
                </c:pt>
                <c:pt idx="1">
                  <c:v>39.7</c:v>
                </c:pt>
                <c:pt idx="2">
                  <c:v>30.5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F1B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5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3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B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1B3D"/>
                </a:solidFill>
                <a:latin typeface="+mn-lt"/>
              </a:rPr>
              <a:t>Average accent score (0-10) by age started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Accent</c:v>
                </c:pt>
              </c:strCache>
            </c:strRef>
          </c:tx>
          <c:spPr>
            <a:solidFill>
              <a:srgbClr val="FF6B5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B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&lt;=12</c:v>
                  </c:pt>
                  <c:pt idx="1">
                    <c:v>13-18</c:v>
                  </c:pt>
                  <c:pt idx="2">
                    <c:v>19-25</c:v>
                  </c:pt>
                  <c:pt idx="3">
                    <c:v>26-35</c:v>
                  </c:pt>
                  <c:pt idx="4">
                    <c:v>36-50</c:v>
                  </c:pt>
                  <c:pt idx="5">
                    <c:v>50+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7.2</c:v>
                </c:pt>
                <c:pt idx="2">
                  <c:v>6.4</c:v>
                </c:pt>
                <c:pt idx="3">
                  <c:v>5.4</c:v>
                </c:pt>
                <c:pt idx="4">
                  <c:v>4.2</c:v>
                </c:pt>
                <c:pt idx="5">
                  <c:v>2.6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F1B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5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E3E8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594360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rgbClr val="0F1B3D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594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What Gets Language Learners to Fluency?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02336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An end-to-end data project: Python preparation and a 4-page Power BI dashboard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30352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Data Preprocessing &amp; Analysis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Ziad Yahia Eid Mahmoud</a:t>
            </a:r>
            <a:endParaRPr lang="en-US" sz="1600" dirty="0"/>
          </a:p>
        </p:txBody>
      </p:sp>
      <p:pic>
        <p:nvPicPr>
          <p:cNvPr id="5" name="Image 0" descr="Dashboard page: What Drives Fluenc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2103120"/>
            <a:ext cx="4572000" cy="25984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3D"/>
                </a:solidFill>
              </a:rPr>
              <a:t>45,000 learners, one question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2523744" cy="219456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14884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45,000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10896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learner records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38144" y="1737360"/>
            <a:ext cx="2523744" cy="219456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38144" y="214884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3438144" y="310896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original columns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36208" y="1737360"/>
            <a:ext cx="2523744" cy="219456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36208" y="214884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36%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6236208" y="310896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reached fluency (B2+)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034272" y="1737360"/>
            <a:ext cx="2523744" cy="219456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34272" y="214884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37%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9034272" y="310896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quit before B2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38912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The question: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what separates learners who reach B2 or higher from those who quit? Source: Kaggle, Language Learning to Fluency: Who Gets There? Targets: reached_fluency and dropped_out.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3D"/>
                </a:solidFill>
              </a:rPr>
              <a:t>From raw file to dashboard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6002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Download and audit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kagglehub in Colab. 45,000 rows by 18 columns: no missing values, no duplicates.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6974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Prepare features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12 new columns: readable labels, age, hours and immersion bands, quality score. 18 to 30 columns.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7947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Save the clean CSV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UTF-8 file, ready for Power BI.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4937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937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8920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Build the dashboard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Sort ranks made in Power Query: the DAX version caused a circular dependency.</a:t>
            </a:r>
            <a:endParaRPr lang="en-US" sz="1700" dirty="0"/>
          </a:p>
        </p:txBody>
      </p:sp>
      <p:pic>
        <p:nvPicPr>
          <p:cNvPr id="15" name="Image 0" descr="Dashboard Overview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737360"/>
            <a:ext cx="5212080" cy="2967986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309360" y="4846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Dashboard, Overview page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3D"/>
                </a:solidFill>
              </a:rPr>
              <a:t>Study hours are the biggest lever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463040"/>
          <a:ext cx="70408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138160" y="19202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1% to 95%</a:t>
            </a:r>
            <a:endParaRPr lang="en-US" sz="5000" dirty="0"/>
          </a:p>
        </p:txBody>
      </p:sp>
      <p:sp>
        <p:nvSpPr>
          <p:cNvPr id="5" name="Text 2"/>
          <p:cNvSpPr txBox="1"/>
          <p:nvPr/>
        </p:nvSpPr>
        <p:spPr>
          <a:xfrm>
            <a:off x="8138160" y="30175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Share reaching fluency under 200 hours versus over 2,000 hours. No other factor comes close.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3D"/>
                </a:solidFill>
              </a:rPr>
              <a:t>Difficulty and immersion also matter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46304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217920" y="146304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Easy to very hard languages: 54% down to 10%. No immersion to 12+ months: 32% up to 62%.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3D"/>
                </a:solidFill>
              </a:rPr>
              <a:t>Quitting and age tell different stories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46304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217920" y="146304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40080" y="55321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Higher motivation and steadier practice mean fewer learners quit.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6217920" y="55321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Age barely moves fluency (35-40% in every group) but strongly lowers accent.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Takeaways and limits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Hours matter most: 1% to 95% fluency across the bands.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Harder languages take longer: 54% easy versus 10% very hard.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Immersion helps: 32% with none, 62% with 12+ months.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Age changes accent, not the chance of fluency.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Motivation and consistency cut dropout.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132320" y="1554480"/>
            <a:ext cx="4389120" cy="4206240"/>
          </a:xfrm>
          <a:prstGeom prst="roundRect">
            <a:avLst>
              <a:gd name="adj" fmla="val 32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06640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Limits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06640" y="228600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Public dataset that looks synthetic: findings describe this data only.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Dropout means quitting before B2, so high-hour groups show low dropout by definition.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quality_score is our own index, not validated.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uency">
  <a:themeElements>
    <a:clrScheme name="Fluency">
      <a:dk1>
        <a:srgbClr val="0F1B3D"/>
      </a:dk1>
      <a:lt1>
        <a:srgbClr val="FFFFFF"/>
      </a:lt1>
      <a:dk2>
        <a:srgbClr val="14264A"/>
      </a:dk2>
      <a:lt2>
        <a:srgbClr val="EAF1FB"/>
      </a:lt2>
      <a:accent1>
        <a:srgbClr val="2F6BC4"/>
      </a:accent1>
      <a:accent2>
        <a:srgbClr val="4DA6FF"/>
      </a:accent2>
      <a:accent3>
        <a:srgbClr val="FF6B57"/>
      </a:accent3>
      <a:accent4>
        <a:srgbClr val="14407F"/>
      </a:accent4>
      <a:accent5>
        <a:srgbClr val="93B6E8"/>
      </a:accent5>
      <a:accent6>
        <a:srgbClr val="6B7A99"/>
      </a:accent6>
      <a:hlink>
        <a:srgbClr val="2F6BC4"/>
      </a:hlink>
      <a:folHlink>
        <a:srgbClr val="6B7A99"/>
      </a:folHlink>
    </a:clrScheme>
    <a:fontScheme name="Fluenc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Gets Language Learners to Fluency?</dc:title>
  <dc:subject>PptxGenJS Presentation</dc:subject>
  <dc:creator>PptxGenJS</dc:creator>
  <cp:lastModifiedBy>PptxGenJS</cp:lastModifiedBy>
  <cp:revision>1</cp:revision>
  <dcterms:created xsi:type="dcterms:W3CDTF">2026-10-21T21:28:05Z</dcterms:created>
  <dcterms:modified xsi:type="dcterms:W3CDTF">2026-10-21T21:28:05Z</dcterms:modified>
</cp:coreProperties>
</file>